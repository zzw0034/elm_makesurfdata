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 sz="1800"/>
    </a:defPPr>
    <a:lvl1pPr marL="0" indent="0"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7342-863B-9EE2-3A51-AE90087F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963D6-ACF2-2832-3835-97DA614F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mal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>
        <a:defRPr sz="2400" b="1"/>
      </a:lvl1pPr>
    </p:titleStyle>
    <p:bodyStyle>
      <a:lvl1pPr marL="0" indent="0">
        <a:defRPr sz="1800"/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10896"/>
            <a:ext cx="10744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300" b="1">
                <a:solidFill>
                  <a:srgbClr val="1F2937"/>
                </a:solidFill>
                <a:latin typeface="Arial"/>
              </a:rPr>
              <a:t>ELM Surface Data Generation Workflow (Execution Pipeline)</a:t>
            </a:r>
            <a:endParaRPr lang="en-US" sz="2300"/>
          </a:p>
        </p:txBody>
      </p:sp>
      <p:sp>
        <p:nvSpPr>
          <p:cNvPr id="3" name="Step 1"/>
          <p:cNvSpPr/>
          <p:nvPr/>
        </p:nvSpPr>
        <p:spPr>
          <a:xfrm>
            <a:off x="1783080" y="868680"/>
            <a:ext cx="8641080" cy="621792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1. Grid Files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Generate SCRIP grid</a:t>
            </a:r>
            <a:endParaRPr lang="en-US" sz="1200"/>
          </a:p>
        </p:txBody>
      </p:sp>
      <p:sp>
        <p:nvSpPr>
          <p:cNvPr id="4" name="Arrow 1"/>
          <p:cNvSpPr/>
          <p:nvPr/>
        </p:nvSpPr>
        <p:spPr>
          <a:xfrm>
            <a:off x="5993892" y="1536192"/>
            <a:ext cx="219456" cy="128016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tep 2"/>
          <p:cNvSpPr/>
          <p:nvPr/>
        </p:nvSpPr>
        <p:spPr>
          <a:xfrm>
            <a:off x="1783080" y="1719072"/>
            <a:ext cx="8641080" cy="621792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2. Mapping Files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Create source-to-target mapping files</a:t>
            </a:r>
            <a:endParaRPr lang="en-US" sz="1200"/>
          </a:p>
        </p:txBody>
      </p:sp>
      <p:sp>
        <p:nvSpPr>
          <p:cNvPr id="6" name="Arrow 2"/>
          <p:cNvSpPr/>
          <p:nvPr/>
        </p:nvSpPr>
        <p:spPr>
          <a:xfrm>
            <a:off x="5993892" y="2386584"/>
            <a:ext cx="219456" cy="128016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tep 3"/>
          <p:cNvSpPr/>
          <p:nvPr/>
        </p:nvSpPr>
        <p:spPr>
          <a:xfrm>
            <a:off x="1783080" y="2569464"/>
            <a:ext cx="8641080" cy="621792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3. Domain File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Generate land domain file</a:t>
            </a:r>
            <a:endParaRPr lang="en-US" sz="1200"/>
          </a:p>
        </p:txBody>
      </p:sp>
      <p:sp>
        <p:nvSpPr>
          <p:cNvPr id="8" name="Arrow 3"/>
          <p:cNvSpPr/>
          <p:nvPr/>
        </p:nvSpPr>
        <p:spPr>
          <a:xfrm>
            <a:off x="5993892" y="3236976"/>
            <a:ext cx="219456" cy="128016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tep 4"/>
          <p:cNvSpPr/>
          <p:nvPr/>
        </p:nvSpPr>
        <p:spPr>
          <a:xfrm>
            <a:off x="1783080" y="3419856"/>
            <a:ext cx="864108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4. PFT &amp; Land Use Data Preparation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NLCD to PFT conversion</a:t>
            </a:r>
            <a:endParaRPr lang="en-US" sz="1200"/>
          </a:p>
          <a:p>
            <a:pPr algn="l"/>
            <a:r>
              <a:rPr lang="en-US" sz="1100">
                <a:solidFill>
                  <a:srgbClr val="1F2937"/>
                </a:solidFill>
                <a:latin typeface="Arial"/>
              </a:rPr>
              <a:t>LUH2 harvest downscaling; prepare dynamic land-use inputs</a:t>
            </a:r>
            <a:endParaRPr lang="en-US" sz="1100"/>
          </a:p>
        </p:txBody>
      </p:sp>
      <p:sp>
        <p:nvSpPr>
          <p:cNvPr id="10" name="Arrow 4"/>
          <p:cNvSpPr/>
          <p:nvPr/>
        </p:nvSpPr>
        <p:spPr>
          <a:xfrm>
            <a:off x="5993892" y="4224528"/>
            <a:ext cx="219456" cy="128016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tep 5"/>
          <p:cNvSpPr/>
          <p:nvPr/>
        </p:nvSpPr>
        <p:spPr>
          <a:xfrm>
            <a:off x="1783080" y="4398264"/>
            <a:ext cx="864108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5. ELM Surface Data Generation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Run mksurfdata_map</a:t>
            </a:r>
            <a:endParaRPr lang="en-US" sz="1200"/>
          </a:p>
          <a:p>
            <a:pPr algn="l"/>
            <a:r>
              <a:rPr lang="en-US" sz="1100">
                <a:solidFill>
                  <a:srgbClr val="1F2937"/>
                </a:solidFill>
                <a:latin typeface="Arial"/>
              </a:rPr>
              <a:t>Generate surfdata.nc and landuse.timeseries.nc</a:t>
            </a:r>
            <a:endParaRPr lang="en-US" sz="1100"/>
          </a:p>
        </p:txBody>
      </p:sp>
      <p:sp>
        <p:nvSpPr>
          <p:cNvPr id="12" name="Arrow 5"/>
          <p:cNvSpPr/>
          <p:nvPr/>
        </p:nvSpPr>
        <p:spPr>
          <a:xfrm>
            <a:off x="5993892" y="5248656"/>
            <a:ext cx="219456" cy="128016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tep 6"/>
          <p:cNvSpPr/>
          <p:nvPr/>
        </p:nvSpPr>
        <p:spPr>
          <a:xfrm>
            <a:off x="1783080" y="5385816"/>
            <a:ext cx="8641080" cy="621792"/>
          </a:xfrm>
          <a:prstGeom prst="rect">
            <a:avLst/>
          </a:prstGeom>
          <a:solidFill>
            <a:srgbClr val="F8FAFC"/>
          </a:solidFill>
          <a:ln w="19050">
            <a:solidFill>
              <a:srgbClr val="334155"/>
            </a:solidFill>
          </a:ln>
        </p:spPr>
        <p:txBody>
          <a:bodyPr wrap="square" lIns="182880" tIns="146050" rIns="182880" bIns="88900" anchor="t"/>
          <a:lstStyle/>
          <a:p>
            <a:pPr algn="l"/>
            <a:r>
              <a:rPr lang="en-US" sz="1800" b="1">
                <a:solidFill>
                  <a:srgbClr val="1F2937"/>
                </a:solidFill>
                <a:latin typeface="Arial"/>
              </a:rPr>
              <a:t>6. Soil Data Update</a:t>
            </a:r>
            <a:endParaRPr lang="en-US" sz="1800"/>
          </a:p>
          <a:p>
            <a:pPr algn="l"/>
            <a:r>
              <a:rPr lang="en-US" sz="1200">
                <a:solidFill>
                  <a:srgbClr val="1F2937"/>
                </a:solidFill>
                <a:latin typeface="Arial"/>
              </a:rPr>
              <a:t>Update soil texture and soil order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334155"/>
      </a:accent1>
      <a:accent2>
        <a:srgbClr val="475569"/>
      </a:accent2>
      <a:accent3>
        <a:srgbClr val="64748B"/>
      </a:accent3>
      <a:accent4>
        <a:srgbClr val="94A3B8"/>
      </a:accent4>
      <a:accent5>
        <a:srgbClr val="CBD5E1"/>
      </a:accent5>
      <a:accent6>
        <a:srgbClr val="E2E8F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ELM Surface Data Generation Workflow</dc:title>
  <dc:creator>OpenAI Codex</dc:creator>
  <cp:lastModifiedBy>Wang, Zhuonan</cp:lastModifiedBy>
  <cp:revision>1</cp:revision>
  <dcterms:created xsi:type="dcterms:W3CDTF">2026-04-15T21:58:26Z</dcterms:created>
  <dcterms:modified xsi:type="dcterms:W3CDTF">2026-04-15T22:03:22Z</dcterms:modified>
</cp:coreProperties>
</file>